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28"/>
  </p:notesMasterIdLst>
  <p:sldIdLst>
    <p:sldId id="269" r:id="rId2"/>
    <p:sldId id="270" r:id="rId3"/>
    <p:sldId id="271" r:id="rId4"/>
    <p:sldId id="272" r:id="rId5"/>
    <p:sldId id="273" r:id="rId6"/>
    <p:sldId id="277" r:id="rId7"/>
    <p:sldId id="278" r:id="rId8"/>
    <p:sldId id="281" r:id="rId9"/>
    <p:sldId id="282" r:id="rId10"/>
    <p:sldId id="283" r:id="rId11"/>
    <p:sldId id="284" r:id="rId12"/>
    <p:sldId id="287" r:id="rId13"/>
    <p:sldId id="288" r:id="rId14"/>
    <p:sldId id="285" r:id="rId15"/>
    <p:sldId id="286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FF4D1-7866-4142-B1D6-8485E96747D4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73FAF-D0E6-4530-998E-EB0C55660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908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DCC6-2265-4D42-8F2C-EC689B851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0EE1D-4126-4C11-8D4F-0E7E82FC2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04B75-C44C-469C-8B34-531933B4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8D38-790E-422D-B718-FE2070627280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4D395-368D-46BA-BB33-591D2695A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6976B-FA30-45F0-B39C-12BB1996D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442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3CE6-8E0E-4EE0-9194-B1472433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B5D7B-A985-42A0-8E8C-A1BB11A5E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5D378-F851-44DE-A6EF-7824F1EE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7B567-6C4C-468B-ABF9-600D6FE0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CDBF3-C964-4D90-B9ED-BA8D0B59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83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71FE-B2F1-481B-9B6B-4DB2F04A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1D405-DBA6-434B-8642-2798972F8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E0C80-2CEB-4CBC-804D-3B11B0DF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E8D1-9C6A-4289-9D5B-5553047B1FEF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73C8E-2AE2-4613-BA53-99B2DC813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30240-D4F5-41A2-8911-ACB359903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09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EF39-504A-473D-9EC0-012853A6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7832E-922B-49AE-9C5E-DCC7A8DBC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61E6A-27AA-49E0-A14C-2CE73A18D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77DDF-D8C9-40FA-B039-F26B4EEC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8662-1455-4F9C-9E98-BA709812BA20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4DA68-E562-4E19-9212-37BE07A5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5CE04-7435-473D-817E-C1350FC6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869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763D2-DA52-4931-BB02-12EC5DA5D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C2DA9-4584-4551-8B7B-D6CA441F1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30BB9-4FF0-4EF5-B099-83FB01F20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7FBFD-3034-4D35-BD04-276C82B38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01654-E6E4-4E0B-A857-3C2E585FC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1F64D-CF93-428F-A0E2-2766D78C0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9AE0-4D60-43F4-98CA-E94E743BF40B}" type="datetime3">
              <a:rPr lang="en-IN" smtClean="0"/>
              <a:t>20 August 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38922-C42C-4D85-9F5B-EB23F75E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6FB20-1DFB-43AA-B771-979933D1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6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13A8-5217-4EB8-B22F-18BFC7D7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BAED6-2920-436B-B9E1-EE66519C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0445D-5C28-4F4B-AB63-1B1F818AC80E}" type="datetime3">
              <a:rPr lang="en-IN" smtClean="0"/>
              <a:t>20 August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34CD0-E3C9-4FC5-8E59-CA67712D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6FEB0-ABCA-4164-A814-43E4B31A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05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D75D2-9B1F-4BBA-87B1-081CBDD6B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FE85-EF53-4003-94A8-675716E4C744}" type="datetime3">
              <a:rPr lang="en-IN" smtClean="0"/>
              <a:t>20 August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2ADF41-3B69-47C5-BB7A-1F477B3E4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8E504-CFEB-4EB6-9728-2B741BE1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3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8EBD-517C-4CC4-AE99-44B2AEAF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9BC23-68D5-4E45-ADFA-46B12B2F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428C9-02CB-4323-80DF-ED53CA1FA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6EC06-414B-473A-9ABF-1349B750B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2A0A-91A6-4AB8-903F-E91454209166}" type="datetime3">
              <a:rPr lang="en-IN" smtClean="0"/>
              <a:t>20 August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59ADC-8C0D-415F-A19B-C8123D278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7AD4A-4EE2-4A0C-A02E-0A8DFAB7F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3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6503-E522-4FDE-9569-767959CC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8A8223-4B6B-4C9A-949C-8D2F56F87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97933-B613-4934-9707-EBF9E36AD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6725-B70E-4B69-9244-1FA74461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E59D3-2F57-4D36-A2CD-0A4581230312}" type="datetime3">
              <a:rPr lang="en-IN" smtClean="0"/>
              <a:t>20 August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C376F-D20F-4BBC-A5BD-D7CD8DEC6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02E1F-4875-4043-817D-994E391F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965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C799-60DB-4B3E-A90B-14EAF567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E01E3-CEEC-4462-B636-C1FB2C5E0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B2465-8AAF-4FC0-B81D-BC352419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BB1E-8457-4348-9AFC-C655ED9DA604}" type="datetime3">
              <a:rPr lang="en-IN" smtClean="0"/>
              <a:t>20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9D9C6-CDDF-4126-B157-9E19360B1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2AB8F-6C50-46BA-A6FE-E102709F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72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A2459-942D-48D1-9F35-21528F5CE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B3227-BEF1-47E6-8A1B-0C61C5E9B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F0273-1019-4280-9651-48234458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BE73-F2F6-47C4-BC64-29FF4F4D04B8}" type="datetime3">
              <a:rPr lang="en-IN" smtClean="0"/>
              <a:t>20 August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AA2AF-3BBB-40A2-873F-F9457A4C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AD81F-047E-4645-A232-9E34ECF2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56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8602AD-7856-43D0-9A64-BFAA740B530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04566-01DB-4388-9E5A-F9BE5ED1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19807"/>
            <a:ext cx="7886700" cy="870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2C78C-91C9-4D87-B8E0-9083BFB58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9D47A-C478-43AC-A8BF-43E1CC516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fld id="{AC7CFBDE-425F-4918-A9C3-E7920980C621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BDB26-31D6-4357-BAD7-3396B7D3E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49" y="6356350"/>
            <a:ext cx="48748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FE49-7BA3-4E89-BB87-B8D5DEDA6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6564" y="6400006"/>
            <a:ext cx="6325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98FAA56B-F5A5-4C16-AD47-1E8EA35406D8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8" name="Google Shape;93;p1">
            <a:extLst>
              <a:ext uri="{FF2B5EF4-FFF2-40B4-BE49-F238E27FC236}">
                <a16:creationId xmlns:a16="http://schemas.microsoft.com/office/drawing/2014/main" id="{D51556BE-3EEC-44D8-86AC-18B5079898ED}"/>
              </a:ext>
            </a:extLst>
          </p:cNvPr>
          <p:cNvSpPr txBox="1"/>
          <p:nvPr userDrawn="1"/>
        </p:nvSpPr>
        <p:spPr>
          <a:xfrm>
            <a:off x="611616" y="184945"/>
            <a:ext cx="5479256" cy="35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1875" b="1" i="0" u="none" strike="noStrike" cap="none" dirty="0" err="1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Mepco</a:t>
            </a:r>
            <a:r>
              <a:rPr lang="en-US" sz="1875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 Schlenk Engineering College </a:t>
            </a:r>
            <a:r>
              <a:rPr lang="en-US" sz="1350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lang="en-US" sz="1350" b="1" i="0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Autonomous</a:t>
            </a:r>
            <a:r>
              <a:rPr lang="en-US" sz="1350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1350" b="1" i="1" u="none" strike="noStrike" cap="none" dirty="0">
              <a:solidFill>
                <a:schemeClr val="bg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9E6B5C-CAE6-4191-B5C5-C6217344079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294" y="20310"/>
            <a:ext cx="964206" cy="1001758"/>
          </a:xfrm>
          <a:prstGeom prst="rect">
            <a:avLst/>
          </a:prstGeom>
        </p:spPr>
      </p:pic>
      <p:sp>
        <p:nvSpPr>
          <p:cNvPr id="11" name="Google Shape;93;p1">
            <a:extLst>
              <a:ext uri="{FF2B5EF4-FFF2-40B4-BE49-F238E27FC236}">
                <a16:creationId xmlns:a16="http://schemas.microsoft.com/office/drawing/2014/main" id="{76A3D517-BAF9-46F4-9735-DEF3AB591817}"/>
              </a:ext>
            </a:extLst>
          </p:cNvPr>
          <p:cNvSpPr txBox="1"/>
          <p:nvPr userDrawn="1"/>
        </p:nvSpPr>
        <p:spPr>
          <a:xfrm>
            <a:off x="7131068" y="31938"/>
            <a:ext cx="1088021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Mini Project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III</a:t>
            </a:r>
            <a:r>
              <a:rPr lang="en-US" sz="1100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1100" b="1" i="1" u="none" strike="noStrike" cap="none" dirty="0">
              <a:solidFill>
                <a:schemeClr val="bg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52994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ER%20DIAGRAM.pn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ebp"/><Relationship Id="rId2" Type="http://schemas.openxmlformats.org/officeDocument/2006/relationships/hyperlink" Target="SCHEMA%20DIAGRAM.web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/andrewmvd/udemy-courses?utm_source=chatgpt.com" TargetMode="External"/><Relationship Id="rId3" Type="http://schemas.openxmlformats.org/officeDocument/2006/relationships/hyperlink" Target="https://vite.dev/guide/?utm_source=chatgpt.com" TargetMode="External"/><Relationship Id="rId7" Type="http://schemas.openxmlformats.org/officeDocument/2006/relationships/hyperlink" Target="https://www.kaggle.com/datasets/siddharthm1698/coursera-course-dataset?utm_source=chatgpt.com" TargetMode="External"/><Relationship Id="rId2" Type="http://schemas.openxmlformats.org/officeDocument/2006/relationships/hyperlink" Target="https://react.dev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judge0.com/?utm_source=chatgpt.com" TargetMode="External"/><Relationship Id="rId5" Type="http://schemas.openxmlformats.org/officeDocument/2006/relationships/hyperlink" Target="https://www.mongodb.com/docs/?utm_source=chatgpt.com" TargetMode="External"/><Relationship Id="rId4" Type="http://schemas.openxmlformats.org/officeDocument/2006/relationships/hyperlink" Target="https://expressjs.com/?utm_source=chatgpt.com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A73C-CB59-44E8-9C48-D3ACCFA52D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Study buddy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78966-2369-4A70-B1AB-8F0E0DB84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888" y="4347105"/>
            <a:ext cx="4332112" cy="1655762"/>
          </a:xfrm>
        </p:spPr>
        <p:txBody>
          <a:bodyPr>
            <a:normAutofit/>
          </a:bodyPr>
          <a:lstStyle/>
          <a:p>
            <a:r>
              <a:rPr lang="en-US" dirty="0"/>
              <a:t>GUIDED BY,</a:t>
            </a:r>
          </a:p>
          <a:p>
            <a:r>
              <a:rPr lang="en-US" dirty="0"/>
              <a:t>Dr. S. Vanitha Sivagami</a:t>
            </a:r>
          </a:p>
          <a:p>
            <a:r>
              <a:rPr lang="en-US" dirty="0"/>
              <a:t>Professor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15CF4-D1D0-44D4-AFC7-CAF9C46A0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8D38-790E-422D-B718-FE2070627280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E9CAE-BB55-45C5-B515-7B51E3011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1FE6C-0641-419D-BA6E-DFFFE25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</a:t>
            </a:fld>
            <a:endParaRPr lang="en-IN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CF15B20-6B85-4166-A665-C7B104654F81}"/>
              </a:ext>
            </a:extLst>
          </p:cNvPr>
          <p:cNvSpPr txBox="1">
            <a:spLocks/>
          </p:cNvSpPr>
          <p:nvPr/>
        </p:nvSpPr>
        <p:spPr>
          <a:xfrm>
            <a:off x="4351584" y="4347105"/>
            <a:ext cx="4761090" cy="936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DAVID PRINCE J , 24BCS038</a:t>
            </a:r>
          </a:p>
          <a:p>
            <a:r>
              <a:rPr lang="en-US" dirty="0"/>
              <a:t>NAVIEN KUMAR B R, 24BCS053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3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9C3B8-3126-44F0-BA4D-56826031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900500"/>
            <a:ext cx="7886700" cy="870881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BB05-934B-4101-BE0E-C90D8084F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59" y="1760457"/>
            <a:ext cx="860059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Study Buddy is a web-based learning platform that provides students with a centralized workspace for courses, lessons, assignments, notes, planning, progress tracking, and coding practice. It offers secure authentication and centralized academic resource management.</a:t>
            </a:r>
          </a:p>
          <a:p>
            <a:pPr marL="0" indent="0">
              <a:buNone/>
            </a:pPr>
            <a:r>
              <a:rPr lang="en-IN" dirty="0"/>
              <a:t>The platform also includes an integrated coding environment to help students practice programming and improve problem-solving skills. Overall, Study Buddy makes learning more organized, interactive, and effective.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3A2F3-EF54-4925-9B80-06C032AE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5786D-3628-4AE0-9151-038C8DB97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1C56C-97AC-4A58-BC83-A22157FE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194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61E2-1CE2-4C85-A0BD-D413945B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99" y="954744"/>
            <a:ext cx="7886700" cy="870881"/>
          </a:xfrm>
        </p:spPr>
        <p:txBody>
          <a:bodyPr>
            <a:normAutofit/>
          </a:bodyPr>
          <a:lstStyle/>
          <a:p>
            <a:r>
              <a:rPr lang="en-IN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86ED-CDFA-422D-8665-665E87E4C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Students often use multiple platforms to manage courses, assignments, notes, study plans, coding practice, and academic progress. This fragmented approach makes it difficult to organize resources and track learning activities.</a:t>
            </a:r>
          </a:p>
          <a:p>
            <a:pPr marL="0" indent="0">
              <a:buNone/>
            </a:pPr>
            <a:r>
              <a:rPr lang="en-IN" dirty="0"/>
              <a:t>Therefore, there is a need for a centralized and user-friendly platform that combines essential academic activities in one place, helping students manage their learning efficiently and monitor their progress.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FC85-2DCC-4717-A85E-38D7573A9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D681A-C751-47F6-AAFB-FEC80732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279A1-4353-495B-969E-C6DE34F7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796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F9F85-02DB-4470-9A9E-5810DC749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89" y="954744"/>
            <a:ext cx="7886700" cy="870881"/>
          </a:xfrm>
        </p:spPr>
        <p:txBody>
          <a:bodyPr>
            <a:normAutofit/>
          </a:bodyPr>
          <a:lstStyle/>
          <a:p>
            <a:r>
              <a:rPr lang="en-IN" dirty="0"/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00445-D941-42E9-84B7-866FD52FE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design and develop an interactive, centralized web-based learning platform that enables students to efficiently manage courses, lessons, assignments, notes, study plans, coding practice, and other academic resources in one unified workspace.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C1D3E-F904-42A5-A525-127E298C3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8489A-C4E6-4AE8-B419-73D8F5A29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A6832-0B2A-4A30-B66A-CAA65C1B2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77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4379-F63E-4240-A954-ABD0E0D1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94" y="954744"/>
            <a:ext cx="7886700" cy="870881"/>
          </a:xfrm>
        </p:spPr>
        <p:txBody>
          <a:bodyPr/>
          <a:lstStyle/>
          <a:p>
            <a:r>
              <a:rPr lang="en-IN" dirty="0"/>
              <a:t>Expected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9EEAD-8E10-41A1-BFD6-9C7239DEA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dirty="0"/>
              <a:t>Develop a centralized learning platform for managing courses, lessons, assignments, notes, study plans, and other academic resources in an organized manner. </a:t>
            </a:r>
          </a:p>
          <a:p>
            <a:pPr lvl="0"/>
            <a:r>
              <a:rPr lang="en-IN" dirty="0"/>
              <a:t>Create an interactive academic workspace that supports study planning, programming practice, progress tracking, and effective learning management. </a:t>
            </a:r>
          </a:p>
          <a:p>
            <a:pPr lvl="0"/>
            <a:r>
              <a:rPr lang="en-IN" dirty="0"/>
              <a:t>Build a secure and user-friendly system that enables students to access, organize, and manage their academic activities efficiently from a single platform.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4C95E-ABA6-444B-B612-051A4D28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41F07-AB19-463C-BA21-2F8BBDE0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7FC1D-0C55-4A28-BC62-27FB0910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74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26A9-9711-4BA6-B8FE-B4866860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8" y="912824"/>
            <a:ext cx="7886700" cy="870881"/>
          </a:xfrm>
        </p:spPr>
        <p:txBody>
          <a:bodyPr>
            <a:normAutofit/>
          </a:bodyPr>
          <a:lstStyle/>
          <a:p>
            <a:r>
              <a:rPr lang="en-IN" dirty="0"/>
              <a:t>Dataset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CDC4A-51A5-4753-B498-7F1DEDCF1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61" y="1748134"/>
            <a:ext cx="7950631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Coursera Course Dataset</a:t>
            </a:r>
            <a:br>
              <a:rPr lang="en-IN" dirty="0"/>
            </a:br>
            <a:r>
              <a:rPr lang="en-IN" dirty="0"/>
              <a:t>Course subjects: C, C++, Java, Python, SQL, Web Development</a:t>
            </a:r>
            <a:br>
              <a:rPr lang="en-IN" dirty="0"/>
            </a:br>
            <a:r>
              <a:rPr lang="en-IN" dirty="0"/>
              <a:t>Course levels: Beginner, Intermediate, Advanced</a:t>
            </a:r>
            <a:br>
              <a:rPr lang="en-IN" dirty="0"/>
            </a:br>
            <a:r>
              <a:rPr lang="en-IN" dirty="0"/>
              <a:t>Ratings: 3.5 – 5.0</a:t>
            </a:r>
            <a:br>
              <a:rPr lang="en-IN" dirty="0"/>
            </a:br>
            <a:r>
              <a:rPr lang="en-IN" dirty="0"/>
              <a:t>Certificates: Course, Specialization</a:t>
            </a:r>
          </a:p>
          <a:p>
            <a:pPr marL="0" indent="0">
              <a:buNone/>
            </a:pPr>
            <a:r>
              <a:rPr lang="en-IN" b="1" dirty="0"/>
              <a:t>Udemy Courses Dataset</a:t>
            </a:r>
            <a:br>
              <a:rPr lang="en-IN" dirty="0"/>
            </a:br>
            <a:r>
              <a:rPr lang="en-IN" dirty="0"/>
              <a:t>Course subjects: C++, Java, Python, JavaScript, SQL, Web Development</a:t>
            </a:r>
            <a:br>
              <a:rPr lang="en-IN" dirty="0"/>
            </a:br>
            <a:r>
              <a:rPr lang="en-IN" dirty="0"/>
              <a:t>Course levels: Beginner, Intermediate, Expert</a:t>
            </a:r>
            <a:br>
              <a:rPr lang="en-IN" dirty="0"/>
            </a:br>
            <a:r>
              <a:rPr lang="en-IN" dirty="0"/>
              <a:t>Prices: Free</a:t>
            </a:r>
            <a:br>
              <a:rPr lang="en-IN" dirty="0"/>
            </a:br>
            <a:r>
              <a:rPr lang="en-IN" dirty="0"/>
              <a:t>Duration: 1 – 50+ hours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34B03-2747-4CB5-92C7-873D57C0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B0983-5205-493D-BF94-6547362C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048EB-ADEE-46F8-B895-42FC4B6B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4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42-71F1-45C0-9A31-8FD105902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65050"/>
            <a:ext cx="7886700" cy="870881"/>
          </a:xfrm>
        </p:spPr>
        <p:txBody>
          <a:bodyPr>
            <a:normAutofit/>
          </a:bodyPr>
          <a:lstStyle/>
          <a:p>
            <a:r>
              <a:rPr lang="en-IN" dirty="0"/>
              <a:t>Working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AD73-71D4-4284-84C0-BC257DD4F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/>
              <a:t>Frontend:</a:t>
            </a:r>
            <a:r>
              <a:rPr lang="en-IN" dirty="0"/>
              <a:t> React.js, HTML5, CSS3, JavaScript </a:t>
            </a:r>
          </a:p>
          <a:p>
            <a:pPr lvl="0"/>
            <a:r>
              <a:rPr lang="en-IN" b="1" dirty="0"/>
              <a:t>Backend:</a:t>
            </a:r>
            <a:r>
              <a:rPr lang="en-IN" dirty="0"/>
              <a:t> Node.js, Express.js </a:t>
            </a:r>
          </a:p>
          <a:p>
            <a:pPr lvl="0"/>
            <a:r>
              <a:rPr lang="en-IN" b="1" dirty="0"/>
              <a:t>Database:</a:t>
            </a:r>
            <a:r>
              <a:rPr lang="en-IN" dirty="0"/>
              <a:t> MongoDB </a:t>
            </a:r>
          </a:p>
          <a:p>
            <a:pPr lvl="0"/>
            <a:r>
              <a:rPr lang="en-IN" b="1" dirty="0"/>
              <a:t>Authentication:</a:t>
            </a:r>
            <a:r>
              <a:rPr lang="en-IN" dirty="0"/>
              <a:t> JWT-based authentication </a:t>
            </a:r>
          </a:p>
          <a:p>
            <a:pPr lvl="0"/>
            <a:r>
              <a:rPr lang="en-IN" b="1" dirty="0"/>
              <a:t>Programming Execution:</a:t>
            </a:r>
            <a:r>
              <a:rPr lang="en-IN" dirty="0"/>
              <a:t> Judge0 API </a:t>
            </a:r>
          </a:p>
          <a:p>
            <a:pPr lvl="0"/>
            <a:r>
              <a:rPr lang="en-IN" b="1" dirty="0"/>
              <a:t>Development Environment:</a:t>
            </a:r>
            <a:r>
              <a:rPr lang="en-IN" dirty="0"/>
              <a:t> Visual Studio Code </a:t>
            </a:r>
          </a:p>
          <a:p>
            <a:pPr lvl="0"/>
            <a:r>
              <a:rPr lang="en-IN" b="1" dirty="0"/>
              <a:t>Version Control:</a:t>
            </a:r>
            <a:r>
              <a:rPr lang="en-IN" dirty="0"/>
              <a:t> Git and GitHub </a:t>
            </a:r>
          </a:p>
          <a:p>
            <a:pPr lvl="0"/>
            <a:r>
              <a:rPr lang="en-IN" b="1" dirty="0"/>
              <a:t>Browser:</a:t>
            </a:r>
            <a:r>
              <a:rPr lang="en-IN" dirty="0"/>
              <a:t> Google Chrome / BRAVE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704B6-2968-43AC-B02A-A838BDF31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F4D90-6868-4C25-A26B-9ECB2289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E3D08-272A-4EDD-8759-673BABB2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73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75702-EDFE-0E3C-37CA-DE64CE33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CD68-4691-6D9B-3D15-5C84759D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8" y="819807"/>
            <a:ext cx="7886700" cy="870881"/>
          </a:xfrm>
        </p:spPr>
        <p:txBody>
          <a:bodyPr>
            <a:normAutofit/>
          </a:bodyPr>
          <a:lstStyle/>
          <a:p>
            <a:r>
              <a:rPr lang="en-IN" dirty="0"/>
              <a:t>ER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8374E-9E11-AE49-3B1A-0769C28E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EEDC0-DB8F-D37D-6BBA-48C00E63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F55B7-E99E-CDC7-C2B9-87E55121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3F9E9-0D8F-46BF-F4BA-BEC1B72FF7A6}"/>
              </a:ext>
            </a:extLst>
          </p:cNvPr>
          <p:cNvSpPr txBox="1"/>
          <p:nvPr/>
        </p:nvSpPr>
        <p:spPr>
          <a:xfrm>
            <a:off x="2873966" y="2997675"/>
            <a:ext cx="3851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hlinkClick r:id="rId2" action="ppaction://hlinkfile"/>
              </a:rPr>
              <a:t>ER DIAGRAM.png</a:t>
            </a:r>
            <a:endParaRPr lang="en-IN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F566C0-4CC7-67D0-B82D-8A54B3BF5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73079"/>
            <a:ext cx="9126922" cy="468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58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2CB5A-9935-157F-0969-CC9258F9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B132-0F5F-14C0-5263-7FDA7EBC6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2540"/>
            <a:ext cx="7285529" cy="551794"/>
          </a:xfrm>
        </p:spPr>
        <p:txBody>
          <a:bodyPr>
            <a:normAutofit fontScale="90000"/>
          </a:bodyPr>
          <a:lstStyle/>
          <a:p>
            <a:r>
              <a:rPr lang="en-IN" dirty="0"/>
              <a:t>Database Schema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B303D-7E75-079C-6826-5B6B60943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574CE-0CFB-6CAD-77EE-670D3B4A6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C5393-DEA1-BBFB-9623-1304C1C73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9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494C37-693B-A517-ED53-B2CBC2CA31D5}"/>
              </a:ext>
            </a:extLst>
          </p:cNvPr>
          <p:cNvSpPr txBox="1"/>
          <p:nvPr/>
        </p:nvSpPr>
        <p:spPr>
          <a:xfrm>
            <a:off x="2743200" y="2967335"/>
            <a:ext cx="334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hlinkClick r:id="rId2" action="ppaction://hlinkfile"/>
              </a:rPr>
              <a:t>SCHEMA </a:t>
            </a:r>
            <a:r>
              <a:rPr lang="en-IN" sz="2400" dirty="0" err="1">
                <a:hlinkClick r:id="rId2" action="ppaction://hlinkfile"/>
              </a:rPr>
              <a:t>DIAGRAM.webp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1EADB6-8B6B-3486-0C9E-4280099F8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4334"/>
            <a:ext cx="9144000" cy="469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50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4D1C2-85B0-5F2A-6313-E14898F9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B281-C430-6B7C-3C17-739A5A51F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55" y="874051"/>
            <a:ext cx="7886700" cy="870881"/>
          </a:xfrm>
        </p:spPr>
        <p:txBody>
          <a:bodyPr>
            <a:normAutofit/>
          </a:bodyPr>
          <a:lstStyle/>
          <a:p>
            <a:r>
              <a:rPr lang="en-IN" dirty="0"/>
              <a:t>Module Descriptions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D8E70-BF9A-FC63-A6D9-10E529870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74" y="1814674"/>
            <a:ext cx="7886700" cy="435133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b="1" dirty="0"/>
              <a:t>Authentication</a:t>
            </a:r>
            <a:r>
              <a:rPr lang="en-IN" dirty="0"/>
              <a:t> – Registration, login, and secure profile access. </a:t>
            </a:r>
          </a:p>
          <a:p>
            <a:pPr lvl="0"/>
            <a:r>
              <a:rPr lang="en-IN" b="1" dirty="0"/>
              <a:t>Courses</a:t>
            </a:r>
            <a:r>
              <a:rPr lang="en-IN" dirty="0"/>
              <a:t> – Browse courses, lessons, and learning resources. </a:t>
            </a:r>
          </a:p>
          <a:p>
            <a:pPr lvl="0"/>
            <a:r>
              <a:rPr lang="en-IN" b="1" dirty="0"/>
              <a:t>Assignments</a:t>
            </a:r>
            <a:r>
              <a:rPr lang="en-IN" dirty="0"/>
              <a:t> – Access and complete course-related assignments. </a:t>
            </a:r>
          </a:p>
          <a:p>
            <a:pPr lvl="0"/>
            <a:r>
              <a:rPr lang="en-IN" b="1" dirty="0"/>
              <a:t>Planner</a:t>
            </a:r>
            <a:r>
              <a:rPr lang="en-IN" dirty="0"/>
              <a:t> – Organize study schedules and academic tasks. </a:t>
            </a:r>
          </a:p>
          <a:p>
            <a:pPr lvl="0"/>
            <a:r>
              <a:rPr lang="en-IN" b="1" dirty="0"/>
              <a:t>Notes</a:t>
            </a:r>
            <a:r>
              <a:rPr lang="en-IN" dirty="0"/>
              <a:t> – Create and manage personal study notes. </a:t>
            </a:r>
          </a:p>
          <a:p>
            <a:pPr lvl="0"/>
            <a:r>
              <a:rPr lang="en-IN" b="1" dirty="0"/>
              <a:t>Progress</a:t>
            </a:r>
            <a:r>
              <a:rPr lang="en-IN" dirty="0"/>
              <a:t> – Track learning progress, XP, achievements, and completion. </a:t>
            </a:r>
          </a:p>
          <a:p>
            <a:pPr lvl="0"/>
            <a:r>
              <a:rPr lang="en-IN" b="1" dirty="0" err="1"/>
              <a:t>CodeLab</a:t>
            </a:r>
            <a:r>
              <a:rPr lang="en-IN" dirty="0"/>
              <a:t> – Practice programming and execute code using Judge0. </a:t>
            </a:r>
          </a:p>
          <a:p>
            <a:pPr lvl="0"/>
            <a:r>
              <a:rPr lang="en-IN" b="1" dirty="0"/>
              <a:t>Profile</a:t>
            </a:r>
            <a:r>
              <a:rPr lang="en-IN" dirty="0"/>
              <a:t> – Manage profile, certificates, badges, and statistics.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F04F-3288-1DB2-6FDF-B34E9F98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7F20E-5262-3C36-24D2-D88D83CD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78B8A-C259-E561-101D-1F7615E0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507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58254-1F6D-9ADE-48AC-EE31FC66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C9DD4-1635-7CF2-1EDE-65DE2D4E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FDCC1-3653-7A17-EA07-1029A0D36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AA096-C46E-A9A1-FF78-7137F02F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11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102288-2866-8423-BE49-EB6B37F11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88" y="1549831"/>
            <a:ext cx="8198604" cy="46959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AFFC7B-A940-53C9-0991-A5C587BD22AB}"/>
              </a:ext>
            </a:extLst>
          </p:cNvPr>
          <p:cNvSpPr txBox="1"/>
          <p:nvPr/>
        </p:nvSpPr>
        <p:spPr>
          <a:xfrm>
            <a:off x="333214" y="1069966"/>
            <a:ext cx="5297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							</a:t>
            </a:r>
            <a:r>
              <a:rPr lang="en-IN" b="1" dirty="0"/>
              <a:t>LANDING PAGE</a:t>
            </a:r>
          </a:p>
        </p:txBody>
      </p:sp>
    </p:spTree>
    <p:extLst>
      <p:ext uri="{BB962C8B-B14F-4D97-AF65-F5344CB8AC3E}">
        <p14:creationId xmlns:p14="http://schemas.microsoft.com/office/powerpoint/2010/main" val="3636068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E370F-3551-0FD4-BEFA-A052E20D1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D7630-85A1-DEE4-DF02-3173E7C21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D5883-67EC-1DBA-78DC-F96B53E4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94AE6-90C5-0E95-E586-4334D4E1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12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13977-7CB2-9872-0BCE-405B4E4DF3A8}"/>
              </a:ext>
            </a:extLst>
          </p:cNvPr>
          <p:cNvSpPr txBox="1"/>
          <p:nvPr/>
        </p:nvSpPr>
        <p:spPr>
          <a:xfrm>
            <a:off x="333214" y="1069966"/>
            <a:ext cx="5681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1.2						</a:t>
            </a:r>
            <a:r>
              <a:rPr lang="en-IN" b="1" dirty="0"/>
              <a:t>USER AUTHENTICATION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0898F0-6530-9CCF-521F-352E7B017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85" y="1635070"/>
            <a:ext cx="8346815" cy="438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47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3B2D2-560A-047E-9807-6A1A6586D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24ADE-E18A-F98B-E7C6-DBEFF65C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F2E15-3082-1E8A-66F0-0F5794D48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114D9-E508-64C9-0EEB-26ABDC25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13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91B58F-8987-7499-1A19-405CAC686E08}"/>
              </a:ext>
            </a:extLst>
          </p:cNvPr>
          <p:cNvSpPr txBox="1"/>
          <p:nvPr/>
        </p:nvSpPr>
        <p:spPr>
          <a:xfrm>
            <a:off x="333214" y="1069966"/>
            <a:ext cx="5318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1.3						</a:t>
            </a:r>
            <a:r>
              <a:rPr lang="en-IN" b="1" dirty="0"/>
              <a:t>Student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4C61D8-C6A5-458D-8490-72B00ED4A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49" y="1439299"/>
            <a:ext cx="8066868" cy="465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03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5EEFF-94DF-AED6-13D0-28F778DCC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039C9-6145-0D01-D504-1F754B13D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5A809-5C12-8402-873F-21387FE4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94E15-4FAA-8F32-F289-486503B5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14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D49FD9-9769-518A-6750-518A300B60FB}"/>
              </a:ext>
            </a:extLst>
          </p:cNvPr>
          <p:cNvSpPr txBox="1"/>
          <p:nvPr/>
        </p:nvSpPr>
        <p:spPr>
          <a:xfrm>
            <a:off x="333214" y="1069966"/>
            <a:ext cx="5714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1.4						</a:t>
            </a:r>
            <a:r>
              <a:rPr lang="en-IN" b="1" dirty="0"/>
              <a:t>COURSE MANAGEMENT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D3BFF9-C12D-3E57-AC8E-8FF4229C1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20" y="1578783"/>
            <a:ext cx="8067671" cy="44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227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52CB2-9054-DD44-8E30-2FF5A3067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57B56-E555-0121-09ED-30FE494A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23026-E743-D64D-0D1B-69CB6159E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6199C-8D21-EFE0-90DF-EDD428C5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3B52B-5886-070A-0741-97B20FC5E5F9}"/>
              </a:ext>
            </a:extLst>
          </p:cNvPr>
          <p:cNvSpPr txBox="1"/>
          <p:nvPr/>
        </p:nvSpPr>
        <p:spPr>
          <a:xfrm>
            <a:off x="333214" y="1069966"/>
            <a:ext cx="5271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1.5						</a:t>
            </a:r>
            <a:r>
              <a:rPr lang="en-IN" b="1" dirty="0"/>
              <a:t>ASSIGNMENT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13F5DD-5C52-616E-350E-4E8B3BE5A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14" y="1588576"/>
            <a:ext cx="8493071" cy="447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44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C06D0-4B06-28A9-21FF-B2046E7E4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D7E91-E17C-B325-0A5B-63A16214F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AA3C4-951A-E084-F6F1-FA15B74A2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B60CF0-383B-7126-9531-5A5980F58C36}"/>
              </a:ext>
            </a:extLst>
          </p:cNvPr>
          <p:cNvSpPr txBox="1"/>
          <p:nvPr/>
        </p:nvSpPr>
        <p:spPr>
          <a:xfrm>
            <a:off x="333214" y="1069966"/>
            <a:ext cx="4891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1.6						</a:t>
            </a:r>
            <a:r>
              <a:rPr lang="en-IN" b="1" dirty="0"/>
              <a:t>CHATBOT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DDBC53-F824-D60E-9A17-0BFE24409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43" y="1622926"/>
            <a:ext cx="8214101" cy="454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27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2D43F-65D3-5AAC-3E6E-3FDBF4B84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FF1DB-EB53-0CF5-1A29-AD8869F2B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05BFA-D29A-0A70-2EE0-41D56B26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EF6B2-712D-1B4E-CA8A-94504D987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157B40-FDAB-B60E-DF92-B324206C633E}"/>
              </a:ext>
            </a:extLst>
          </p:cNvPr>
          <p:cNvSpPr txBox="1"/>
          <p:nvPr/>
        </p:nvSpPr>
        <p:spPr>
          <a:xfrm>
            <a:off x="333214" y="1069966"/>
            <a:ext cx="4751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1.7						</a:t>
            </a:r>
            <a:r>
              <a:rPr lang="en-IN" b="1" dirty="0"/>
              <a:t>Study Planner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B93A00-7854-D165-584F-03571FE82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14" y="1645257"/>
            <a:ext cx="7847371" cy="45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30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8BD7A-03B7-475A-94AF-32D547396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D9A21-B9F3-8AD6-6A52-E7E972575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95617-A7AF-B330-9242-41B65AF0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F30A5-3E92-490F-04A8-DE74A326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AA7F2-0379-8A1C-883D-07018C44E56C}"/>
              </a:ext>
            </a:extLst>
          </p:cNvPr>
          <p:cNvSpPr txBox="1"/>
          <p:nvPr/>
        </p:nvSpPr>
        <p:spPr>
          <a:xfrm>
            <a:off x="333214" y="1069966"/>
            <a:ext cx="4658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1.8						      </a:t>
            </a:r>
            <a:r>
              <a:rPr lang="en-IN" b="1" dirty="0"/>
              <a:t>Code Lab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904F26-6BD6-19D7-FDCE-A3A7C2531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95" y="1613401"/>
            <a:ext cx="7205744" cy="456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98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E24B4-3608-681F-E3A5-528A4ED24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0B632-21A2-58E2-F8B0-9B15618D7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96B6F-FFA5-04F1-84F8-22BC74A56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0308AA-AC1F-DD37-BFB9-2074BCE083A5}"/>
              </a:ext>
            </a:extLst>
          </p:cNvPr>
          <p:cNvSpPr txBox="1"/>
          <p:nvPr/>
        </p:nvSpPr>
        <p:spPr>
          <a:xfrm>
            <a:off x="333214" y="1069966"/>
            <a:ext cx="4732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1.9						      </a:t>
            </a:r>
            <a:r>
              <a:rPr lang="en-IN" b="1" dirty="0"/>
              <a:t>Add Notes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DAF2AC-0693-28BC-7695-359D44E87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98" y="1689315"/>
            <a:ext cx="6823057" cy="426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789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2A3CD-30B1-FFED-2010-A15B4DC2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EFCFB-3E56-7E58-AB98-99AAF37E9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5AECC-AFF8-4F97-2236-5960EAE1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0665C-356D-117F-7B08-AD18EDA0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4559C-7E87-C0F4-4732-FEFB5610F6F9}"/>
              </a:ext>
            </a:extLst>
          </p:cNvPr>
          <p:cNvSpPr txBox="1"/>
          <p:nvPr/>
        </p:nvSpPr>
        <p:spPr>
          <a:xfrm>
            <a:off x="319665" y="1100691"/>
            <a:ext cx="473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1.10						</a:t>
            </a:r>
            <a:r>
              <a:rPr lang="en-IN" b="1" dirty="0"/>
              <a:t>Achievements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3FB25D-1B49-7D16-2B00-0B3FF19AD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73" y="1615041"/>
            <a:ext cx="7896385" cy="459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6F89-A5F0-6023-86ED-333829D66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5999D-7ECB-76B0-773A-DE50A1BE5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66F8E-1C0B-B108-2F49-B844344A8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492BA-9BFE-B5F3-4D8C-FADF8A07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42F025-F1B1-3370-1913-623126E02BE0}"/>
              </a:ext>
            </a:extLst>
          </p:cNvPr>
          <p:cNvSpPr txBox="1"/>
          <p:nvPr/>
        </p:nvSpPr>
        <p:spPr>
          <a:xfrm>
            <a:off x="319665" y="1100691"/>
            <a:ext cx="4736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1.11						</a:t>
            </a:r>
            <a:r>
              <a:rPr lang="en-IN" b="1" dirty="0"/>
              <a:t>Progress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032446-9BBC-0BE1-E3EE-4AEB741A8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24" y="1638288"/>
            <a:ext cx="7281951" cy="454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11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CF5FB-8DA5-A2AA-DAEC-255199110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EA7D1-30BE-D48A-1631-4D85E8FF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A448B-FAF9-DA7C-8918-E2C56A63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A9695-B167-396D-176D-ACD3E512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221A11-341E-C6B2-174F-B6D935127CE3}"/>
              </a:ext>
            </a:extLst>
          </p:cNvPr>
          <p:cNvSpPr txBox="1"/>
          <p:nvPr/>
        </p:nvSpPr>
        <p:spPr>
          <a:xfrm>
            <a:off x="319665" y="1100691"/>
            <a:ext cx="4726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1.12							</a:t>
            </a:r>
            <a:r>
              <a:rPr lang="en-IN" sz="2000" b="1" dirty="0"/>
              <a:t>Settings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0D141D-8C85-D351-A1D1-536D818D1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19" y="1696407"/>
            <a:ext cx="7818895" cy="443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20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ACA02-3A95-0E97-AE14-91DDDCE92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EBD03-9375-60B1-EED1-A8E536400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84CD2-715D-F4CB-68CB-59700F16A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687D1-ECA5-5212-787B-493EA33D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89396-F268-3191-7D57-76AAB7EBF2DC}"/>
              </a:ext>
            </a:extLst>
          </p:cNvPr>
          <p:cNvSpPr txBox="1"/>
          <p:nvPr/>
        </p:nvSpPr>
        <p:spPr>
          <a:xfrm>
            <a:off x="323031" y="1100691"/>
            <a:ext cx="5141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1.13							</a:t>
            </a:r>
            <a:r>
              <a:rPr lang="en-IN" sz="2000" b="1" dirty="0"/>
              <a:t>Profile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300F7A-12F4-31BF-5A19-59A4FC442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219" y="1603308"/>
            <a:ext cx="7443183" cy="465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978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46F0A-2BAC-2701-D431-F83A2E708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5F362-E129-6E4E-DE2B-F8A2DF5C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A37DD-AE51-5A12-704A-8DEE1BF2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FA3DE-4559-1963-72CC-0296B437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FFDA6C-A672-5B08-4921-696C1221163C}"/>
              </a:ext>
            </a:extLst>
          </p:cNvPr>
          <p:cNvSpPr txBox="1"/>
          <p:nvPr/>
        </p:nvSpPr>
        <p:spPr>
          <a:xfrm>
            <a:off x="323031" y="1100691"/>
            <a:ext cx="5003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1.14							</a:t>
            </a:r>
            <a:r>
              <a:rPr lang="en-IN" sz="2000" b="1" dirty="0"/>
              <a:t>Search Bar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698F13-E178-4B73-152C-D0ACCC05A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628" y="1500801"/>
            <a:ext cx="7446936" cy="464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762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98F1-CAEC-407A-8AA4-16436929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3915E-F509-4736-85E6-791EDF65A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React Documentation</a:t>
            </a:r>
            <a:r>
              <a:rPr lang="en-IN" dirty="0"/>
              <a:t> — </a:t>
            </a:r>
            <a:r>
              <a:rPr lang="en-IN" dirty="0">
                <a:hlinkClick r:id="rId2"/>
              </a:rPr>
              <a:t>https://react.dev/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Vite Documentation</a:t>
            </a:r>
            <a:r>
              <a:rPr lang="en-IN" dirty="0"/>
              <a:t> — </a:t>
            </a:r>
            <a:r>
              <a:rPr lang="en-IN" dirty="0">
                <a:hlinkClick r:id="rId3"/>
              </a:rPr>
              <a:t>https://vite.dev/guide/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Express.js Documentation</a:t>
            </a:r>
            <a:r>
              <a:rPr lang="en-IN" dirty="0"/>
              <a:t> — </a:t>
            </a:r>
            <a:r>
              <a:rPr lang="en-IN" dirty="0">
                <a:hlinkClick r:id="rId4"/>
              </a:rPr>
              <a:t>https://expressjs.com/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MongoDB Documentation</a:t>
            </a:r>
            <a:r>
              <a:rPr lang="en-IN" dirty="0"/>
              <a:t> — </a:t>
            </a:r>
            <a:r>
              <a:rPr lang="en-IN" dirty="0">
                <a:hlinkClick r:id="rId5"/>
              </a:rPr>
              <a:t>https://www.mongodb.com/docs/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Judge0 Documentation</a:t>
            </a:r>
            <a:r>
              <a:rPr lang="en-IN" dirty="0"/>
              <a:t> — </a:t>
            </a:r>
            <a:r>
              <a:rPr lang="en-IN" dirty="0">
                <a:hlinkClick r:id="rId6"/>
              </a:rPr>
              <a:t>https://docs.judge0.com/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Coursera Course Dataset – Kaggle</a:t>
            </a:r>
            <a:r>
              <a:rPr lang="en-IN" dirty="0"/>
              <a:t> — </a:t>
            </a:r>
            <a:r>
              <a:rPr lang="en-IN" dirty="0">
                <a:hlinkClick r:id="rId7"/>
              </a:rPr>
              <a:t>https://www.kaggle.com/datasets/siddharthm1698/coursera-course-dataset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Udemy Courses Dataset – Kaggle</a:t>
            </a:r>
            <a:r>
              <a:rPr lang="en-IN" dirty="0"/>
              <a:t> — </a:t>
            </a:r>
            <a:r>
              <a:rPr lang="en-IN" dirty="0">
                <a:hlinkClick r:id="rId8"/>
              </a:rPr>
              <a:t>https://www.kaggle.com/datasets/andrewmvd/udemy-courses</a:t>
            </a:r>
            <a:r>
              <a:rPr lang="en-IN" dirty="0"/>
              <a:t> </a:t>
            </a:r>
          </a:p>
          <a:p>
            <a:pPr algn="just"/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756C3-58BE-4DFC-9357-A2030004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63A18-932D-4CFB-B980-35FB79DC7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4CFD3-7BAB-42C2-BEF1-685D8F5E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531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0124-3058-42A1-8931-31A2D7A0B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82" y="2829229"/>
            <a:ext cx="3459545" cy="870881"/>
          </a:xfrm>
        </p:spPr>
        <p:txBody>
          <a:bodyPr/>
          <a:lstStyle/>
          <a:p>
            <a:r>
              <a:rPr lang="en-US" b="1" dirty="0"/>
              <a:t>Thank You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B4008-29CD-4BD3-AB7C-5BF93CBC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20 August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B0EAB-E5D6-45C0-A4F6-6A26206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F2AFC-A904-4AC9-8567-875BF9AF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99729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966</Words>
  <Application>Microsoft Office PowerPoint</Application>
  <PresentationFormat>On-screen Show (4:3)</PresentationFormat>
  <Paragraphs>144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Arial</vt:lpstr>
      <vt:lpstr>Arial Black</vt:lpstr>
      <vt:lpstr>Calibri</vt:lpstr>
      <vt:lpstr>Calibri Light</vt:lpstr>
      <vt:lpstr>Comic Sans MS</vt:lpstr>
      <vt:lpstr>Times New Roman</vt:lpstr>
      <vt:lpstr>Custom Design</vt:lpstr>
      <vt:lpstr>Study buddy</vt:lpstr>
      <vt:lpstr>Introduction</vt:lpstr>
      <vt:lpstr>Problem Statement </vt:lpstr>
      <vt:lpstr>Objectives </vt:lpstr>
      <vt:lpstr>Expected Outcomes </vt:lpstr>
      <vt:lpstr>Dataset Details</vt:lpstr>
      <vt:lpstr>Working Environment</vt:lpstr>
      <vt:lpstr>ER Diagram</vt:lpstr>
      <vt:lpstr>Database Schema Diagram</vt:lpstr>
      <vt:lpstr>Module Descriptions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David Prince Jeevanathan</cp:lastModifiedBy>
  <cp:revision>16</cp:revision>
  <dcterms:created xsi:type="dcterms:W3CDTF">2026-08-04T07:17:32Z</dcterms:created>
  <dcterms:modified xsi:type="dcterms:W3CDTF">2026-08-20T10:21:53Z</dcterms:modified>
</cp:coreProperties>
</file>